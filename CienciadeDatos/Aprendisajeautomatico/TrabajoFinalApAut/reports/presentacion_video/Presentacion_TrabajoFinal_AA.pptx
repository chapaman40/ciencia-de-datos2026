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3D6E8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· APRENDIZAJE AUTOMÁTICO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Segmentación de Clientes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un E-commerce de Ferretería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RFM + Clustering no supervisado · Tierra del Fuego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5029200" cy="0"/>
          </a:xfrm>
          <a:prstGeom prst="line">
            <a:avLst/>
          </a:prstGeom>
          <a:noFill/>
          <a:ln w="19050">
            <a:solidFill>
              <a:srgbClr val="3D6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12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Politécnico Malvinas Argentinas · Ciencia de Datos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problema: marketing masivo en una base heterogénea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de ferretería y materiales de construcción en Tierra del Fuego.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clientes es muy heterogénea: conviven constructoras y contratistas (B2B) con particulares que compran para refacciones (B2C).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marketing (promos, mailing, WhatsApp) se envía masivo y uniforme, lo que genera: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Desperdicio de presupuesto en descuentos innecesarios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617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conversión por mensajes irrelevantes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074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clientes valiosos sin detección preventiva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Subutilización del potencial del segmento B2B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5394960" cy="2331720"/>
          </a:xfrm>
          <a:prstGeom prst="rect">
            <a:avLst/>
          </a:prstGeom>
          <a:solidFill>
            <a:srgbClr val="1C2A39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10312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a los clientes en grupos homogéneos según su comportamiento de compra, para diseñar estrategias de marketing personalizadas y accionables.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4069080"/>
            <a:ext cx="5394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6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importa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5720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+10 % a +30 %</a:t>
            </a:r>
            <a:endParaRPr lang="en-US" sz="2600" dirty="0"/>
          </a:p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mejora potencial en conversión con personalización basada en datos (marketing digital).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PROYECTO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Reproducible: Git + CookieCutter Data Science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CCDS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       raw · interim · processed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   pipeline 0→5 (nº-iniciales-desc)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segmentacion/  código fuente (paquete py)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      .joblib entrenados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     figuras y PDF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  diccionario de datos · glosario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      pruebas (pytest)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554480"/>
            <a:ext cx="91440" cy="10058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73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Versionado con Git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cambios y código reproducible.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69748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2697480"/>
            <a:ext cx="91440" cy="10058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816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Plantilla CookieCutter 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estándar de la industria: separa datos, código, modelos y reportes.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840480"/>
            <a:ext cx="91440" cy="10058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959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ejecutable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reproduce los notebooks 1→5 en orden; semilla fija (rng=42).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983480"/>
            <a:ext cx="5394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4983480"/>
            <a:ext cx="91440" cy="10058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5102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 modular + tests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en segmentacion/ reutilizable, validada con pytest.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transacciones_ecommerce.csv — sintético y realista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91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10.321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0128" y="15544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1691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6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10128" y="2404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7336" y="15544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691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17336" y="2404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negocio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24544" y="15544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24544" y="1691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9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924544" y="2404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(2024–2026)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15468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Origen y recopilación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703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generado en Python con numpy.random.default_rng(42) por confidencialidad de la empresa real (Río Grande).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dinámicas reales del rubro: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73659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en pesos (ticket ×2,1 en 24 meses)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0474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austral (pico dic–mar, pozo jun–ago)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535838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Pareto (20 % clientes → 83 % facturación)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66928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B2B / B2C latentes (sin etiquetar)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3154680"/>
            <a:ext cx="53949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(9 columnas)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657600"/>
          <a:ext cx="49377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914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id_cliente / id_transacción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categoria_producto (12 rubros)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cantidad_items (1–300)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monto_total (ARS, admite neg.)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canal_venta · medio_pago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localidad (RG / Ush / Tolhuin)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6537960" y="57790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las variables RFM no vienen en el CSV — se derivan agrupando por id_cliente.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datos crudos a tabla RFM por cliente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5212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764792"/>
            <a:ext cx="457200" cy="457200"/>
          </a:xfrm>
          <a:prstGeom prst="ellipse">
            <a:avLst/>
          </a:prstGeom>
          <a:solidFill>
            <a:srgbClr val="3D6E8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Limpieza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80160" y="19842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de 84 nulos críticos (canal telefónico), imputación 'Desconocido', filtro de 90 devoluciones, 15 duplicados.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5212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2679192"/>
            <a:ext cx="457200" cy="457200"/>
          </a:xfrm>
          <a:prstGeom prst="ellipse">
            <a:avLst/>
          </a:prstGeom>
          <a:solidFill>
            <a:srgbClr val="3D6E8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606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Normalización texto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80160" y="28986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 y medio_pago a forma canónica (typos, mayúsculas, abreviaturas).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5212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3593592"/>
            <a:ext cx="457200" cy="457200"/>
          </a:xfrm>
          <a:prstGeom prst="ellipse">
            <a:avLst/>
          </a:prstGeom>
          <a:solidFill>
            <a:srgbClr val="3D6E8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520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 B2B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80160" y="38130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compras de obra (hasta ~$33 M): se conservan, son legítimas.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02920" y="4343400"/>
            <a:ext cx="5212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" y="4507992"/>
            <a:ext cx="457200" cy="457200"/>
          </a:xfrm>
          <a:prstGeom prst="ellipse">
            <a:avLst/>
          </a:prstGeom>
          <a:solidFill>
            <a:srgbClr val="3D6E8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44348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RFM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280160" y="47274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Agrupo por cliente → Recency, Frequency, Monetary + complementarias.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02920" y="5257800"/>
            <a:ext cx="52120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5422392"/>
            <a:ext cx="457200" cy="457200"/>
          </a:xfrm>
          <a:prstGeom prst="ellipse">
            <a:avLst/>
          </a:prstGeom>
          <a:solidFill>
            <a:srgbClr val="3D6E8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5349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Deflactación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280160" y="56418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por inflación: clientes nuevos y antiguos comparables.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943600" y="1600200"/>
            <a:ext cx="57607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4" name="Image 0" descr="F:\CIENCIA DE DATOS2026\CienciadeDatos\Aprendisajeautomatico\TrabajoFinalApAut\reports\figures\nb1_problemas_calid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783080"/>
            <a:ext cx="5486400" cy="27432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08076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10.132 transacciones limpias → 999 clientes con su perfil RFM.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08076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ctr" indent="0" marL="0">
              <a:buNone/>
            </a:pP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ecency · </a:t>
            </a:r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algn="ctr" indent="0" marL="0">
              <a:buNone/>
            </a:pP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requency · </a:t>
            </a:r>
            <a:pPr algn="ctr"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ctr" indent="0" marL="0">
              <a:buNone/>
            </a:pPr>
            <a:r>
              <a:rPr lang="en-US" sz="13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onetary (deflactado)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MODELO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algoritmos de clustering comparados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00200"/>
            <a:ext cx="2697480" cy="914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64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" y="21671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base. K óptimo por codo + Silhouette. Hard clustering, .predict() nativo.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6002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600200"/>
            <a:ext cx="2697480" cy="91440"/>
          </a:xfrm>
          <a:prstGeom prst="rect">
            <a:avLst/>
          </a:prstGeom>
          <a:solidFill>
            <a:srgbClr val="3D6E8F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1764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Jerárquico (Ward)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47872" y="21671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Dendrograma: valida la estructura sin fijar K a priori.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54680"/>
            <a:ext cx="2697480" cy="914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DBSCAN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512" y="3721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densidad, robusto a outliers (compras B2B de gran monto).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1546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3154680"/>
            <a:ext cx="2697480" cy="91440"/>
          </a:xfrm>
          <a:prstGeom prst="rect">
            <a:avLst/>
          </a:prstGeom>
          <a:solidFill>
            <a:srgbClr val="C8911B"/>
          </a:solidFill>
          <a:ln/>
        </p:spPr>
      </p:sp>
      <p:sp>
        <p:nvSpPr>
          <p:cNvPr id="22" name="Text 20"/>
          <p:cNvSpPr/>
          <p:nvPr/>
        </p:nvSpPr>
        <p:spPr>
          <a:xfrm>
            <a:off x="3547872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47872" y="37216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clustering: probabilidad de pertenencia → clientes en frontera.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600200"/>
            <a:ext cx="5349240" cy="4434840"/>
          </a:xfrm>
          <a:prstGeom prst="rect">
            <a:avLst/>
          </a:prstGeom>
          <a:solidFill>
            <a:srgbClr val="1C2A39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metodológicas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253288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R, F, M(log) — RFM puro. Las complementarias caracterizan, no entran al modelo.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3172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Escalado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346557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antes de medir distancias.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0" y="41056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439826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K=2 (que maximiza Silhouette pero es trivial). K=4 = estándar RFM, accionable.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0" y="50383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533095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simple, interpretable, .predict() para clientes nuevos.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MODELO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internas + validación cruzada entre algoritmos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6400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1371600"/>
                <a:gridCol w="109728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Jerárquico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85800" y="36941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DBSCAN se evalúa sin outliers; tiende a 1 cluster dominante + ruido (los datos son un gradiente continuo).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4160520"/>
            <a:ext cx="6400800" cy="1874520"/>
          </a:xfrm>
          <a:prstGeom prst="rect">
            <a:avLst/>
          </a:prstGeom>
          <a:solidFill>
            <a:srgbClr val="1C2A39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42976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de robustez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46634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Jerárquico y GMM convergen a la misma estructura (ARI alto entre sí).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tres métodos distintos encuentren los mismos grupos confirma que la segmentación es real, no un artefacto.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086600" y="1645920"/>
            <a:ext cx="4572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F:\CIENCIA DE DATOS2026\CienciadeDatos\Aprendisajeautomatico\TrabajoFinalApAut\reports\figures\nb4_comparacion_metric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828800"/>
            <a:ext cx="42976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(EDA)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nos dijeron los datos antes de modelar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6400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F:\CIENCIA DE DATOS2026\CienciadeDatos\Aprendisajeautomatico\TrabajoFinalApAut\reports\figures\nb3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126480" cy="4114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0" y="1600200"/>
            <a:ext cx="4526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0" y="1600200"/>
            <a:ext cx="91440" cy="987552"/>
          </a:xfrm>
          <a:prstGeom prst="rect">
            <a:avLst/>
          </a:prstGeom>
          <a:solidFill>
            <a:srgbClr val="3D6E8F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17099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Pareto confirmado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6092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grueso de la facturación se concentra en muy pocos clientes — justifica segmentar.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32320" y="2715768"/>
            <a:ext cx="4526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0" y="2715768"/>
            <a:ext cx="91440" cy="987552"/>
          </a:xfrm>
          <a:prstGeom prst="rect">
            <a:avLst/>
          </a:prstGeom>
          <a:solidFill>
            <a:srgbClr val="3D6E8F"/>
          </a:solidFill>
          <a:ln/>
        </p:spPr>
      </p:sp>
      <p:sp>
        <p:nvSpPr>
          <p:cNvPr id="16" name="Text 13"/>
          <p:cNvSpPr/>
          <p:nvPr/>
        </p:nvSpPr>
        <p:spPr>
          <a:xfrm>
            <a:off x="7360920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RFM puro suficiente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60920" y="3172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ticket_promedio = M/F genera multicolinealidad → se excluye del clustering.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132320" y="3831336"/>
            <a:ext cx="4526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32320" y="3831336"/>
            <a:ext cx="91440" cy="987552"/>
          </a:xfrm>
          <a:prstGeom prst="rect">
            <a:avLst/>
          </a:prstGeom>
          <a:solidFill>
            <a:srgbClr val="3D6E8F"/>
          </a:solidFill>
          <a:ln/>
        </p:spPr>
      </p:sp>
      <p:sp>
        <p:nvSpPr>
          <p:cNvPr id="20" name="Text 17"/>
          <p:cNvSpPr/>
          <p:nvPr/>
        </p:nvSpPr>
        <p:spPr>
          <a:xfrm>
            <a:off x="7360920" y="39410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Deflactar es clave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360920" y="42885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ajustar por inflación, los clientes recientes parecerían artificialmente más valiosos.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132320" y="4946904"/>
            <a:ext cx="45262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0" y="4946904"/>
            <a:ext cx="91440" cy="987552"/>
          </a:xfrm>
          <a:prstGeom prst="rect">
            <a:avLst/>
          </a:prstGeom>
          <a:solidFill>
            <a:srgbClr val="3D6E8F"/>
          </a:solidFill>
          <a:ln/>
        </p:spPr>
      </p:sp>
      <p:sp>
        <p:nvSpPr>
          <p:cNvPr id="24" name="Text 21"/>
          <p:cNvSpPr/>
          <p:nvPr/>
        </p:nvSpPr>
        <p:spPr>
          <a:xfrm>
            <a:off x="7360920" y="50566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vs B2C nítido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360920" y="54041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varios órdenes de magnitud en monto y frecuencia entre ambos perfiles.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segmentos — y un Pareto comercial muy marcado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58521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F:\CIENCIA DE DATOS2026\CienciadeDatos\Aprendisajeautomatico\TrabajoFinalApAut\reports\figures\nb5_pareto_comerc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577840" cy="4114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37960" y="1600200"/>
            <a:ext cx="5120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737360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60120"/>
                <a:gridCol w="91440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facturación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89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Campeones (B2B)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A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Activos Recientes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A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Esporádicos / Riesgo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A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A9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Perdidos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A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37960" y="4114800"/>
            <a:ext cx="5120640" cy="1920240"/>
          </a:xfrm>
          <a:prstGeom prst="rect">
            <a:avLst/>
          </a:prstGeom>
          <a:solidFill>
            <a:srgbClr val="1C2A39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76656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clave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66560" y="46177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89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15 % de los clientes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(Campeones B2B) explica el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77 % de la facturación real.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justifica un trato de marketing diferenciado por segmento.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566928" cy="566928"/>
          </a:xfrm>
          <a:prstGeom prst="ellipse">
            <a:avLst/>
          </a:prstGeom>
          <a:solidFill>
            <a:srgbClr val="1C2A3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7498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A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modelo a la acción comercial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Gallego  ·  Politécnico Malvinas Argentinas  ·  Aprendizaje Automático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53949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6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entrega segmentos coherentes y accionables; tres algoritmos lo validan.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confirma y cuantifica el Pareto: 15 % de clientes = 77 % de la facturación.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recibe nombre comercial y estrategia concreta.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 y listo para aplicarse a datos reales de otra empresa del rubro.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5532120" cy="4251960"/>
          </a:xfrm>
          <a:prstGeom prst="rect">
            <a:avLst/>
          </a:prstGeom>
          <a:solidFill>
            <a:srgbClr val="1C2A39"/>
          </a:solidFill>
          <a:ln w="12700">
            <a:solidFill>
              <a:srgbClr val="E2DCD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por segmento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109728" cy="731520"/>
          </a:xfrm>
          <a:prstGeom prst="rect">
            <a:avLst/>
          </a:prstGeom>
          <a:solidFill>
            <a:srgbClr val="C8911B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91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Campeones (B2B)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9400" y="25420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premium: cuenta corriente, gestor dedicado, descuentos por volumen.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163824"/>
            <a:ext cx="109728" cy="7315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1181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Activos Recientes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29400" y="34198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Up-sell de complementarios + programa de puntos para subir frecuencia.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4041648"/>
            <a:ext cx="109728" cy="7315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9959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8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Esporádicos / Riesgo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2940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de re-activación con descuento personalizado.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4919472"/>
            <a:ext cx="109728" cy="731520"/>
          </a:xfrm>
          <a:prstGeom prst="rect">
            <a:avLst/>
          </a:prstGeom>
          <a:solidFill>
            <a:srgbClr val="8A97A3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8737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97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Perdidos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29400" y="51755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low-cost: email de re-enganche.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D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 usar los clusters como etiquetas para un clasificador supervisado (Random Forest / XGBoost) y operar la segmentación en tiempo real.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Segmentación de Clientes — Trabajo Final de Aprendizaje Automático</dc:title>
  <dc:subject>PptxGenJS Presentation</dc:subject>
  <dc:creator>Ian Gallego</dc:creator>
  <cp:lastModifiedBy>Ian Gallego</cp:lastModifiedBy>
  <cp:revision>1</cp:revision>
  <dcterms:created xsi:type="dcterms:W3CDTF">2026-06-02T23:13:16Z</dcterms:created>
  <dcterms:modified xsi:type="dcterms:W3CDTF">2026-06-02T23:13:16Z</dcterms:modified>
</cp:coreProperties>
</file>